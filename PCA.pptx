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6858000" cy="9144000"/>
  <p:embeddedFontLst>
    <p:embeddedFont>
      <p:font typeface="Garet" panose="020B0604020202020204" charset="0"/>
      <p:regular r:id="rId34"/>
    </p:embeddedFont>
    <p:embeddedFont>
      <p:font typeface="Garet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288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8.png"/><Relationship Id="rId7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r="-2479" b="-1848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4904823" y="-898106"/>
            <a:ext cx="4404437" cy="5655778"/>
          </a:xfrm>
          <a:custGeom>
            <a:avLst/>
            <a:gdLst/>
            <a:ahLst/>
            <a:cxnLst/>
            <a:rect l="l" t="t" r="r" b="b"/>
            <a:pathLst>
              <a:path w="4404437" h="5655778">
                <a:moveTo>
                  <a:pt x="0" y="0"/>
                </a:moveTo>
                <a:lnTo>
                  <a:pt x="4404437" y="0"/>
                </a:lnTo>
                <a:lnTo>
                  <a:pt x="4404437" y="5655778"/>
                </a:lnTo>
                <a:lnTo>
                  <a:pt x="0" y="565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528965" y="1320942"/>
            <a:ext cx="3230070" cy="815717"/>
            <a:chOff x="0" y="0"/>
            <a:chExt cx="160925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09259" cy="406400"/>
            </a:xfrm>
            <a:custGeom>
              <a:avLst/>
              <a:gdLst/>
              <a:ahLst/>
              <a:cxnLst/>
              <a:rect l="l" t="t" r="r" b="b"/>
              <a:pathLst>
                <a:path w="1609259" h="406400">
                  <a:moveTo>
                    <a:pt x="1406059" y="0"/>
                  </a:moveTo>
                  <a:cubicBezTo>
                    <a:pt x="1518283" y="0"/>
                    <a:pt x="1609259" y="90976"/>
                    <a:pt x="1609259" y="203200"/>
                  </a:cubicBezTo>
                  <a:cubicBezTo>
                    <a:pt x="1609259" y="315424"/>
                    <a:pt x="1518283" y="406400"/>
                    <a:pt x="14060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625"/>
              <a:ext cx="1609259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5998318" y="9036632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flipH="1">
            <a:off x="16551518" y="9036632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2903738" y="3907329"/>
            <a:ext cx="13094580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PRINCIPAL COMPONENT ANALYSIS FOR MULTISPECTRAL IMAGE PROCESSING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 b="1">
              <a:solidFill>
                <a:srgbClr val="F6E0F5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903738" y="5343064"/>
            <a:ext cx="12592710" cy="446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sz="2662" spc="213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SATELLITE IMAGE PROCESSING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1765" y="1549045"/>
            <a:ext cx="3197270" cy="363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GNR 607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6459" y="9210675"/>
            <a:ext cx="1131703" cy="38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  <a:spcBef>
                <a:spcPct val="0"/>
              </a:spcBef>
            </a:pPr>
            <a:r>
              <a:rPr lang="en-US" sz="2294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2025</a:t>
            </a:r>
          </a:p>
        </p:txBody>
      </p:sp>
      <p:sp>
        <p:nvSpPr>
          <p:cNvPr id="13" name="Freeform 13"/>
          <p:cNvSpPr/>
          <p:nvPr/>
        </p:nvSpPr>
        <p:spPr>
          <a:xfrm rot="-7384997">
            <a:off x="-594215" y="-1991275"/>
            <a:ext cx="4404437" cy="5655778"/>
          </a:xfrm>
          <a:custGeom>
            <a:avLst/>
            <a:gdLst/>
            <a:ahLst/>
            <a:cxnLst/>
            <a:rect l="l" t="t" r="r" b="b"/>
            <a:pathLst>
              <a:path w="4404437" h="5655778">
                <a:moveTo>
                  <a:pt x="0" y="0"/>
                </a:moveTo>
                <a:lnTo>
                  <a:pt x="4404437" y="0"/>
                </a:lnTo>
                <a:lnTo>
                  <a:pt x="4404437" y="5655777"/>
                </a:lnTo>
                <a:lnTo>
                  <a:pt x="0" y="5655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557346" y="1320942"/>
            <a:ext cx="2410884" cy="608841"/>
            <a:chOff x="0" y="0"/>
            <a:chExt cx="1609259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09259" cy="406400"/>
            </a:xfrm>
            <a:custGeom>
              <a:avLst/>
              <a:gdLst/>
              <a:ahLst/>
              <a:cxnLst/>
              <a:rect l="l" t="t" r="r" b="b"/>
              <a:pathLst>
                <a:path w="1609259" h="406400">
                  <a:moveTo>
                    <a:pt x="1406059" y="0"/>
                  </a:moveTo>
                  <a:cubicBezTo>
                    <a:pt x="1518283" y="0"/>
                    <a:pt x="1609259" y="90976"/>
                    <a:pt x="1609259" y="203200"/>
                  </a:cubicBezTo>
                  <a:cubicBezTo>
                    <a:pt x="1609259" y="315424"/>
                    <a:pt x="1518283" y="406400"/>
                    <a:pt x="14060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7625"/>
              <a:ext cx="1609259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183524" y="4458803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581827" y="3081466"/>
            <a:ext cx="1193201" cy="945883"/>
          </a:xfrm>
          <a:custGeom>
            <a:avLst/>
            <a:gdLst/>
            <a:ahLst/>
            <a:cxnLst/>
            <a:rect l="l" t="t" r="r" b="b"/>
            <a:pathLst>
              <a:path w="1193201" h="945883">
                <a:moveTo>
                  <a:pt x="0" y="0"/>
                </a:moveTo>
                <a:lnTo>
                  <a:pt x="1193202" y="0"/>
                </a:lnTo>
                <a:lnTo>
                  <a:pt x="1193202" y="945884"/>
                </a:lnTo>
                <a:lnTo>
                  <a:pt x="0" y="945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581827" y="1507692"/>
            <a:ext cx="2386403" cy="254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5"/>
              </a:lnSpc>
              <a:spcBef>
                <a:spcPct val="0"/>
              </a:spcBef>
            </a:pPr>
            <a:r>
              <a:rPr lang="en-US" sz="160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GNR- 607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46147" y="2929066"/>
            <a:ext cx="6295768" cy="132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PCA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46147" y="4411178"/>
            <a:ext cx="9037377" cy="286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Presented by</a:t>
            </a:r>
          </a:p>
          <a:p>
            <a:pPr algn="l">
              <a:lnSpc>
                <a:spcPts val="3244"/>
              </a:lnSpc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Yaksh Bhesaniya  - 25M0313</a:t>
            </a:r>
          </a:p>
          <a:p>
            <a:pPr algn="l">
              <a:lnSpc>
                <a:spcPts val="3244"/>
              </a:lnSpc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Aditya Awasthi  - 25M0307</a:t>
            </a:r>
          </a:p>
          <a:p>
            <a:pPr algn="l">
              <a:lnSpc>
                <a:spcPts val="3244"/>
              </a:lnSpc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Bahul Mishra - 25M0317</a:t>
            </a:r>
          </a:p>
          <a:p>
            <a:pPr algn="l">
              <a:lnSpc>
                <a:spcPts val="3244"/>
              </a:lnSpc>
            </a:pPr>
            <a:endParaRPr lang="en-US" sz="2317" dirty="0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244"/>
              </a:lnSpc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Presented To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Professor - BK Mohan Sir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-1761076" y="5582494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8229600" y="0"/>
                </a:moveTo>
                <a:lnTo>
                  <a:pt x="0" y="0"/>
                </a:lnTo>
                <a:lnTo>
                  <a:pt x="0" y="8229600"/>
                </a:lnTo>
                <a:lnTo>
                  <a:pt x="8229600" y="822960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959161" y="2850724"/>
            <a:ext cx="10408977" cy="542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Project Definition</a:t>
            </a:r>
          </a:p>
          <a:p>
            <a:pPr marL="518160" lvl="1" indent="-259080" algn="just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Project Objectives</a:t>
            </a:r>
          </a:p>
          <a:p>
            <a:pPr marL="518160" lvl="1" indent="-259080" algn="just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The Solution: What is PCA?</a:t>
            </a:r>
          </a:p>
          <a:p>
            <a:pPr marL="518160" lvl="1" indent="-259080" algn="just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Core Formulas </a:t>
            </a:r>
          </a:p>
          <a:p>
            <a:pPr marL="518160" lvl="1" indent="-259080" algn="just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Our Project:</a:t>
            </a:r>
          </a:p>
          <a:p>
            <a:pPr marL="1036320" lvl="2" indent="-345440" algn="just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Methodology &amp; Implementation (Flowchart)</a:t>
            </a:r>
          </a:p>
          <a:p>
            <a:pPr marL="1036320" lvl="2" indent="-345440" algn="just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Our Application Interface</a:t>
            </a:r>
          </a:p>
          <a:p>
            <a:pPr marL="518160" lvl="1" indent="-259080" algn="just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Results &amp; Analysis</a:t>
            </a:r>
          </a:p>
          <a:p>
            <a:pPr marL="1036320" lvl="2" indent="-345440" algn="just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The Principal Components</a:t>
            </a:r>
          </a:p>
          <a:p>
            <a:pPr marL="1036320" lvl="2" indent="-345440" algn="just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Variance &amp; Error (MSE)</a:t>
            </a:r>
          </a:p>
          <a:p>
            <a:pPr marL="1036320" lvl="2" indent="-345440" algn="just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Image Reconstruction</a:t>
            </a:r>
          </a:p>
          <a:p>
            <a:pPr marL="518160" lvl="1" indent="-259080" algn="just">
              <a:lnSpc>
                <a:spcPts val="3359"/>
              </a:lnSpc>
              <a:buAutoNum type="arabicPeriod"/>
            </a:pPr>
            <a:r>
              <a:rPr lang="en-US" sz="240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Conclusion, Limitations &amp; Future Work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6717" y="1378871"/>
            <a:ext cx="6295768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Content</a:t>
            </a:r>
          </a:p>
        </p:txBody>
      </p:sp>
      <p:sp>
        <p:nvSpPr>
          <p:cNvPr id="8" name="Freeform 8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413794" y="2420952"/>
            <a:ext cx="7038718" cy="269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 Definition</a:t>
            </a:r>
          </a:p>
          <a:p>
            <a:pPr algn="l">
              <a:lnSpc>
                <a:spcPts val="10822"/>
              </a:lnSpc>
              <a:spcBef>
                <a:spcPct val="0"/>
              </a:spcBef>
            </a:pPr>
            <a:endParaRPr lang="en-US" sz="7730" b="1">
              <a:solidFill>
                <a:srgbClr val="F6E0F5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1772487" y="2451591"/>
            <a:ext cx="5057775" cy="5057775"/>
          </a:xfrm>
          <a:custGeom>
            <a:avLst/>
            <a:gdLst/>
            <a:ahLst/>
            <a:cxnLst/>
            <a:rect l="l" t="t" r="r" b="b"/>
            <a:pathLst>
              <a:path w="5057775" h="5057775">
                <a:moveTo>
                  <a:pt x="0" y="0"/>
                </a:moveTo>
                <a:lnTo>
                  <a:pt x="5057775" y="0"/>
                </a:lnTo>
                <a:lnTo>
                  <a:pt x="5057775" y="5057775"/>
                </a:lnTo>
                <a:lnTo>
                  <a:pt x="0" y="5057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2452512" y="3181287"/>
            <a:ext cx="4012721" cy="3598383"/>
            <a:chOff x="0" y="0"/>
            <a:chExt cx="812800" cy="7288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28874"/>
            </a:xfrm>
            <a:custGeom>
              <a:avLst/>
              <a:gdLst/>
              <a:ahLst/>
              <a:cxnLst/>
              <a:rect l="l" t="t" r="r" b="b"/>
              <a:pathLst>
                <a:path w="812800" h="728874">
                  <a:moveTo>
                    <a:pt x="0" y="0"/>
                  </a:moveTo>
                  <a:lnTo>
                    <a:pt x="812800" y="0"/>
                  </a:lnTo>
                  <a:lnTo>
                    <a:pt x="812800" y="728874"/>
                  </a:lnTo>
                  <a:lnTo>
                    <a:pt x="0" y="728874"/>
                  </a:lnTo>
                  <a:close/>
                </a:path>
              </a:pathLst>
            </a:custGeom>
            <a:blipFill>
              <a:blip r:embed="rId8"/>
              <a:stretch>
                <a:fillRect l="-23167" r="-14113" b="-1430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87150" y="2420952"/>
            <a:ext cx="3826644" cy="269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Project </a:t>
            </a:r>
          </a:p>
          <a:p>
            <a:pPr algn="l">
              <a:lnSpc>
                <a:spcPts val="10822"/>
              </a:lnSpc>
              <a:spcBef>
                <a:spcPct val="0"/>
              </a:spcBef>
            </a:pPr>
            <a:endParaRPr lang="en-US" sz="7730" b="1">
              <a:solidFill>
                <a:srgbClr val="A280EC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87150" y="3911260"/>
            <a:ext cx="9228635" cy="36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4"/>
              </a:lnSpc>
              <a:spcBef>
                <a:spcPct val="0"/>
              </a:spcBef>
            </a:pPr>
            <a:r>
              <a:rPr lang="en-US" sz="23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Compute all the principal component images and display them along with the input multiband image. (Built-in function permitted for computing eigenvectors and eigenvalues. Students must write the code to compute the covariance matrix and generation of principal components). Generate inverse PCT images with user-specified number of the top few principal components and show the meansquared error between original multispectral images and reconstructed images.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1493520" y="-432037"/>
            <a:ext cx="3291840" cy="4114800"/>
          </a:xfrm>
          <a:custGeom>
            <a:avLst/>
            <a:gdLst/>
            <a:ahLst/>
            <a:cxnLst/>
            <a:rect l="l" t="t" r="r" b="b"/>
            <a:pathLst>
              <a:path w="3291840" h="411480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798320" y="1366588"/>
            <a:ext cx="1152525" cy="1152525"/>
          </a:xfrm>
          <a:custGeom>
            <a:avLst/>
            <a:gdLst/>
            <a:ahLst/>
            <a:cxnLst/>
            <a:rect l="l" t="t" r="r" b="b"/>
            <a:pathLst>
              <a:path w="1152525" h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3251551" y="1583586"/>
            <a:ext cx="7038718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51551" y="480836"/>
            <a:ext cx="7038718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Project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17788" y="3117929"/>
            <a:ext cx="3415031" cy="1018897"/>
            <a:chOff x="0" y="0"/>
            <a:chExt cx="1811659" cy="540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1659" cy="540520"/>
            </a:xfrm>
            <a:custGeom>
              <a:avLst/>
              <a:gdLst/>
              <a:ahLst/>
              <a:cxnLst/>
              <a:rect l="l" t="t" r="r" b="b"/>
              <a:pathLst>
                <a:path w="1811659" h="540520">
                  <a:moveTo>
                    <a:pt x="1608459" y="0"/>
                  </a:moveTo>
                  <a:cubicBezTo>
                    <a:pt x="1720683" y="0"/>
                    <a:pt x="1811659" y="121000"/>
                    <a:pt x="1811659" y="270260"/>
                  </a:cubicBezTo>
                  <a:cubicBezTo>
                    <a:pt x="1811659" y="419521"/>
                    <a:pt x="1720683" y="540520"/>
                    <a:pt x="1608459" y="540520"/>
                  </a:cubicBezTo>
                  <a:lnTo>
                    <a:pt x="203200" y="540520"/>
                  </a:lnTo>
                  <a:cubicBezTo>
                    <a:pt x="90976" y="540520"/>
                    <a:pt x="0" y="419521"/>
                    <a:pt x="0" y="270260"/>
                  </a:cubicBezTo>
                  <a:cubicBezTo>
                    <a:pt x="0" y="1210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7625"/>
              <a:ext cx="1811659" cy="492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08969" y="3192364"/>
            <a:ext cx="3123850" cy="12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COMPUTE &amp; DISPLAY PCA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2435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299520" y="3237442"/>
            <a:ext cx="12530742" cy="84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To write code that computes all principal component images from an input multiband image and displays them.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8969" y="4497654"/>
            <a:ext cx="3123850" cy="12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IMPLEMENT INVERSE PCT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2435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17788" y="4407055"/>
            <a:ext cx="3415031" cy="1018897"/>
            <a:chOff x="0" y="0"/>
            <a:chExt cx="1811659" cy="540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11659" cy="540520"/>
            </a:xfrm>
            <a:custGeom>
              <a:avLst/>
              <a:gdLst/>
              <a:ahLst/>
              <a:cxnLst/>
              <a:rect l="l" t="t" r="r" b="b"/>
              <a:pathLst>
                <a:path w="1811659" h="540520">
                  <a:moveTo>
                    <a:pt x="1608459" y="0"/>
                  </a:moveTo>
                  <a:cubicBezTo>
                    <a:pt x="1720683" y="0"/>
                    <a:pt x="1811659" y="121000"/>
                    <a:pt x="1811659" y="270260"/>
                  </a:cubicBezTo>
                  <a:cubicBezTo>
                    <a:pt x="1811659" y="419521"/>
                    <a:pt x="1720683" y="540520"/>
                    <a:pt x="1608459" y="540520"/>
                  </a:cubicBezTo>
                  <a:lnTo>
                    <a:pt x="203200" y="540520"/>
                  </a:lnTo>
                  <a:cubicBezTo>
                    <a:pt x="90976" y="540520"/>
                    <a:pt x="0" y="419521"/>
                    <a:pt x="0" y="270260"/>
                  </a:cubicBezTo>
                  <a:cubicBezTo>
                    <a:pt x="0" y="1210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1811659" cy="492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7788" y="5692652"/>
            <a:ext cx="3415031" cy="1018897"/>
            <a:chOff x="0" y="0"/>
            <a:chExt cx="1811659" cy="540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11659" cy="540520"/>
            </a:xfrm>
            <a:custGeom>
              <a:avLst/>
              <a:gdLst/>
              <a:ahLst/>
              <a:cxnLst/>
              <a:rect l="l" t="t" r="r" b="b"/>
              <a:pathLst>
                <a:path w="1811659" h="540520">
                  <a:moveTo>
                    <a:pt x="1608459" y="0"/>
                  </a:moveTo>
                  <a:cubicBezTo>
                    <a:pt x="1720683" y="0"/>
                    <a:pt x="1811659" y="121000"/>
                    <a:pt x="1811659" y="270260"/>
                  </a:cubicBezTo>
                  <a:cubicBezTo>
                    <a:pt x="1811659" y="419521"/>
                    <a:pt x="1720683" y="540520"/>
                    <a:pt x="1608459" y="540520"/>
                  </a:cubicBezTo>
                  <a:lnTo>
                    <a:pt x="203200" y="540520"/>
                  </a:lnTo>
                  <a:cubicBezTo>
                    <a:pt x="90976" y="540520"/>
                    <a:pt x="0" y="419521"/>
                    <a:pt x="0" y="270260"/>
                  </a:cubicBezTo>
                  <a:cubicBezTo>
                    <a:pt x="0" y="1210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47625"/>
              <a:ext cx="1811659" cy="492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7788" y="6978249"/>
            <a:ext cx="3415031" cy="1018897"/>
            <a:chOff x="0" y="0"/>
            <a:chExt cx="1811659" cy="540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11659" cy="540520"/>
            </a:xfrm>
            <a:custGeom>
              <a:avLst/>
              <a:gdLst/>
              <a:ahLst/>
              <a:cxnLst/>
              <a:rect l="l" t="t" r="r" b="b"/>
              <a:pathLst>
                <a:path w="1811659" h="540520">
                  <a:moveTo>
                    <a:pt x="1608459" y="0"/>
                  </a:moveTo>
                  <a:cubicBezTo>
                    <a:pt x="1720683" y="0"/>
                    <a:pt x="1811659" y="121000"/>
                    <a:pt x="1811659" y="270260"/>
                  </a:cubicBezTo>
                  <a:cubicBezTo>
                    <a:pt x="1811659" y="419521"/>
                    <a:pt x="1720683" y="540520"/>
                    <a:pt x="1608459" y="540520"/>
                  </a:cubicBezTo>
                  <a:lnTo>
                    <a:pt x="203200" y="540520"/>
                  </a:lnTo>
                  <a:cubicBezTo>
                    <a:pt x="90976" y="540520"/>
                    <a:pt x="0" y="419521"/>
                    <a:pt x="0" y="270260"/>
                  </a:cubicBezTo>
                  <a:cubicBezTo>
                    <a:pt x="0" y="1210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47625"/>
              <a:ext cx="1811659" cy="492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08969" y="5798871"/>
            <a:ext cx="3123850" cy="12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EVALUATE PERFORMANCE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2435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08969" y="7100088"/>
            <a:ext cx="3123850" cy="12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BUILD AN INTERFACE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2435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299520" y="4471183"/>
            <a:ext cx="12530742" cy="84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To generate inverse PCT images using a user-specified number ('k') of the top principal components.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99520" y="5756780"/>
            <a:ext cx="12530742" cy="84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To show the mean-squared error (MSE) between the original multispectral images and the reconstructed images.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99520" y="7042377"/>
            <a:ext cx="12530742" cy="84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To create a UI that facilitates loading images, computing PCA, setting 'k' and visualizing all results.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082280" y="4093584"/>
            <a:ext cx="3771900" cy="3771900"/>
          </a:xfrm>
          <a:custGeom>
            <a:avLst/>
            <a:gdLst/>
            <a:ahLst/>
            <a:cxnLst/>
            <a:rect l="l" t="t" r="r" b="b"/>
            <a:pathLst>
              <a:path w="3771900" h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4915722" y="2610466"/>
            <a:ext cx="2096824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 Principal Component Analysis (PCA)?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" y="2228964"/>
            <a:ext cx="4379399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What is</a:t>
            </a:r>
          </a:p>
        </p:txBody>
      </p:sp>
      <p:sp>
        <p:nvSpPr>
          <p:cNvPr id="9" name="Freeform 9"/>
          <p:cNvSpPr/>
          <p:nvPr/>
        </p:nvSpPr>
        <p:spPr>
          <a:xfrm>
            <a:off x="7258050" y="4093584"/>
            <a:ext cx="3771900" cy="3771900"/>
          </a:xfrm>
          <a:custGeom>
            <a:avLst/>
            <a:gdLst/>
            <a:ahLst/>
            <a:cxnLst/>
            <a:rect l="l" t="t" r="r" b="b"/>
            <a:pathLst>
              <a:path w="3771900" h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2181875" y="4093584"/>
            <a:ext cx="3771900" cy="3771900"/>
          </a:xfrm>
          <a:custGeom>
            <a:avLst/>
            <a:gdLst/>
            <a:ahLst/>
            <a:cxnLst/>
            <a:rect l="l" t="t" r="r" b="b"/>
            <a:pathLst>
              <a:path w="3771900" h="3771900">
                <a:moveTo>
                  <a:pt x="0" y="0"/>
                </a:moveTo>
                <a:lnTo>
                  <a:pt x="3771900" y="0"/>
                </a:lnTo>
                <a:lnTo>
                  <a:pt x="37719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2521549" y="4494366"/>
            <a:ext cx="3079151" cy="332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1"/>
              </a:lnSpc>
              <a:spcBef>
                <a:spcPct val="0"/>
              </a:spcBef>
            </a:pPr>
            <a:r>
              <a:rPr lang="en-US" sz="210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PCA is a statistical technique that transforms data from a set of correlated variables (Bands) into a new set of uncorrelated variables (PCs).</a:t>
            </a:r>
          </a:p>
          <a:p>
            <a:pPr algn="ctr">
              <a:lnSpc>
                <a:spcPts val="2951"/>
              </a:lnSpc>
              <a:spcBef>
                <a:spcPct val="0"/>
              </a:spcBef>
            </a:pPr>
            <a:endParaRPr lang="en-US" sz="210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712114" y="5040723"/>
            <a:ext cx="3079151" cy="1839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1"/>
              </a:lnSpc>
              <a:spcBef>
                <a:spcPct val="0"/>
              </a:spcBef>
            </a:pPr>
            <a:r>
              <a:rPr lang="en-US" sz="210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It finds a new set of orthogonal axes for the data, ordered by variance.</a:t>
            </a:r>
          </a:p>
          <a:p>
            <a:pPr algn="ctr">
              <a:lnSpc>
                <a:spcPts val="2951"/>
              </a:lnSpc>
              <a:spcBef>
                <a:spcPct val="0"/>
              </a:spcBef>
            </a:pPr>
            <a:endParaRPr lang="en-US" sz="210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687300" y="4422563"/>
            <a:ext cx="2969721" cy="332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210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PC1: The first component contains the maximum possible variance.</a:t>
            </a:r>
          </a:p>
          <a:p>
            <a:pPr algn="ctr">
              <a:lnSpc>
                <a:spcPts val="2951"/>
              </a:lnSpc>
              <a:spcBef>
                <a:spcPct val="0"/>
              </a:spcBef>
            </a:pPr>
            <a:r>
              <a:rPr lang="en-US" sz="210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PCn: The last component contains the least variance (often just noise).</a:t>
            </a:r>
          </a:p>
          <a:p>
            <a:pPr algn="ctr">
              <a:lnSpc>
                <a:spcPts val="2951"/>
              </a:lnSpc>
              <a:spcBef>
                <a:spcPct val="0"/>
              </a:spcBef>
            </a:pPr>
            <a:endParaRPr lang="en-US" sz="210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746843" y="3194065"/>
            <a:ext cx="3279484" cy="1163137"/>
            <a:chOff x="0" y="0"/>
            <a:chExt cx="1609259" cy="5707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09259" cy="570757"/>
            </a:xfrm>
            <a:custGeom>
              <a:avLst/>
              <a:gdLst/>
              <a:ahLst/>
              <a:cxnLst/>
              <a:rect l="l" t="t" r="r" b="b"/>
              <a:pathLst>
                <a:path w="1609259" h="570757">
                  <a:moveTo>
                    <a:pt x="1406059" y="0"/>
                  </a:moveTo>
                  <a:cubicBezTo>
                    <a:pt x="1518283" y="0"/>
                    <a:pt x="1609259" y="127768"/>
                    <a:pt x="1609259" y="285379"/>
                  </a:cubicBezTo>
                  <a:cubicBezTo>
                    <a:pt x="1609259" y="442989"/>
                    <a:pt x="1518283" y="570757"/>
                    <a:pt x="1406059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1609259" cy="523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026327" y="3794683"/>
            <a:ext cx="2448087" cy="0"/>
          </a:xfrm>
          <a:prstGeom prst="line">
            <a:avLst/>
          </a:prstGeom>
          <a:ln w="38100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7474414" y="3213115"/>
            <a:ext cx="3279484" cy="1163137"/>
            <a:chOff x="0" y="0"/>
            <a:chExt cx="1609259" cy="5707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09259" cy="570757"/>
            </a:xfrm>
            <a:custGeom>
              <a:avLst/>
              <a:gdLst/>
              <a:ahLst/>
              <a:cxnLst/>
              <a:rect l="l" t="t" r="r" b="b"/>
              <a:pathLst>
                <a:path w="1609259" h="570757">
                  <a:moveTo>
                    <a:pt x="1406059" y="0"/>
                  </a:moveTo>
                  <a:cubicBezTo>
                    <a:pt x="1518283" y="0"/>
                    <a:pt x="1609259" y="127768"/>
                    <a:pt x="1609259" y="285379"/>
                  </a:cubicBezTo>
                  <a:cubicBezTo>
                    <a:pt x="1609259" y="442989"/>
                    <a:pt x="1518283" y="570757"/>
                    <a:pt x="1406059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7625"/>
              <a:ext cx="1609259" cy="523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397808" y="3436543"/>
            <a:ext cx="3432695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Compute Covariance Matrix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201984" y="3194065"/>
            <a:ext cx="3279484" cy="1163137"/>
            <a:chOff x="0" y="0"/>
            <a:chExt cx="1609259" cy="5707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09259" cy="570757"/>
            </a:xfrm>
            <a:custGeom>
              <a:avLst/>
              <a:gdLst/>
              <a:ahLst/>
              <a:cxnLst/>
              <a:rect l="l" t="t" r="r" b="b"/>
              <a:pathLst>
                <a:path w="1609259" h="570757">
                  <a:moveTo>
                    <a:pt x="1406059" y="0"/>
                  </a:moveTo>
                  <a:cubicBezTo>
                    <a:pt x="1518283" y="0"/>
                    <a:pt x="1609259" y="127768"/>
                    <a:pt x="1609259" y="285379"/>
                  </a:cubicBezTo>
                  <a:cubicBezTo>
                    <a:pt x="1609259" y="442989"/>
                    <a:pt x="1518283" y="570757"/>
                    <a:pt x="1406059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7625"/>
              <a:ext cx="1609259" cy="523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10753897" y="3775633"/>
            <a:ext cx="2448087" cy="0"/>
          </a:xfrm>
          <a:prstGeom prst="line">
            <a:avLst/>
          </a:prstGeom>
          <a:ln w="38100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5869898" y="6029375"/>
            <a:ext cx="6962860" cy="983504"/>
          </a:xfrm>
          <a:custGeom>
            <a:avLst/>
            <a:gdLst/>
            <a:ahLst/>
            <a:cxnLst/>
            <a:rect l="l" t="t" r="r" b="b"/>
            <a:pathLst>
              <a:path w="6962860" h="983504">
                <a:moveTo>
                  <a:pt x="0" y="0"/>
                </a:moveTo>
                <a:lnTo>
                  <a:pt x="6962860" y="0"/>
                </a:lnTo>
                <a:lnTo>
                  <a:pt x="6962860" y="983504"/>
                </a:lnTo>
                <a:lnTo>
                  <a:pt x="0" y="9835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351841" y="6041469"/>
            <a:ext cx="3953940" cy="971410"/>
          </a:xfrm>
          <a:custGeom>
            <a:avLst/>
            <a:gdLst/>
            <a:ahLst/>
            <a:cxnLst/>
            <a:rect l="l" t="t" r="r" b="b"/>
            <a:pathLst>
              <a:path w="3953940" h="971410">
                <a:moveTo>
                  <a:pt x="0" y="0"/>
                </a:moveTo>
                <a:lnTo>
                  <a:pt x="3953940" y="0"/>
                </a:lnTo>
                <a:lnTo>
                  <a:pt x="3953940" y="971410"/>
                </a:lnTo>
                <a:lnTo>
                  <a:pt x="0" y="971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8014017" y="1492085"/>
            <a:ext cx="6010413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&amp; Formulas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1841" y="1492085"/>
            <a:ext cx="7114001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Core Theory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51024" y="3417493"/>
            <a:ext cx="2671121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Compute Mean Vector 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7025" y="4557382"/>
            <a:ext cx="4333354" cy="108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sz="204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Find the mean value for each band.</a:t>
            </a:r>
          </a:p>
          <a:p>
            <a:pPr algn="just">
              <a:lnSpc>
                <a:spcPts val="2866"/>
              </a:lnSpc>
              <a:spcBef>
                <a:spcPct val="0"/>
              </a:spcBef>
            </a:pPr>
            <a:endParaRPr lang="en-US" sz="204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796009" y="4557382"/>
            <a:ext cx="4274966" cy="144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sz="204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Find the axes (Eigenvectors) and magnitude (Eigenvalues) of the variance.</a:t>
            </a:r>
          </a:p>
          <a:p>
            <a:pPr algn="just">
              <a:lnSpc>
                <a:spcPts val="2866"/>
              </a:lnSpc>
              <a:spcBef>
                <a:spcPct val="0"/>
              </a:spcBef>
            </a:pPr>
            <a:endParaRPr lang="en-US" sz="204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005330" y="4557382"/>
            <a:ext cx="4333354" cy="108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sz="204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Measure how all bands vary with each other.</a:t>
            </a:r>
          </a:p>
          <a:p>
            <a:pPr algn="just">
              <a:lnSpc>
                <a:spcPts val="2866"/>
              </a:lnSpc>
              <a:spcBef>
                <a:spcPct val="0"/>
              </a:spcBef>
            </a:pPr>
            <a:endParaRPr lang="en-US" sz="204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396874" y="3423925"/>
            <a:ext cx="2889705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Eigen-Decomposition:</a:t>
            </a:r>
          </a:p>
        </p:txBody>
      </p:sp>
      <p:sp>
        <p:nvSpPr>
          <p:cNvPr id="27" name="Freeform 27"/>
          <p:cNvSpPr/>
          <p:nvPr/>
        </p:nvSpPr>
        <p:spPr>
          <a:xfrm>
            <a:off x="13396874" y="6000800"/>
            <a:ext cx="3056576" cy="983504"/>
          </a:xfrm>
          <a:custGeom>
            <a:avLst/>
            <a:gdLst/>
            <a:ahLst/>
            <a:cxnLst/>
            <a:rect l="l" t="t" r="r" b="b"/>
            <a:pathLst>
              <a:path w="3056576" h="983504">
                <a:moveTo>
                  <a:pt x="0" y="0"/>
                </a:moveTo>
                <a:lnTo>
                  <a:pt x="3056576" y="0"/>
                </a:lnTo>
                <a:lnTo>
                  <a:pt x="3056576" y="983504"/>
                </a:lnTo>
                <a:lnTo>
                  <a:pt x="0" y="9835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014017" y="1492085"/>
            <a:ext cx="6010413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&amp; Formulas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1841" y="1492085"/>
            <a:ext cx="7114001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Core Theory </a:t>
            </a:r>
          </a:p>
        </p:txBody>
      </p:sp>
      <p:sp>
        <p:nvSpPr>
          <p:cNvPr id="5" name="Freeform 5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1746843" y="3194065"/>
            <a:ext cx="3279484" cy="1163137"/>
            <a:chOff x="0" y="0"/>
            <a:chExt cx="1609259" cy="5707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09259" cy="570757"/>
            </a:xfrm>
            <a:custGeom>
              <a:avLst/>
              <a:gdLst/>
              <a:ahLst/>
              <a:cxnLst/>
              <a:rect l="l" t="t" r="r" b="b"/>
              <a:pathLst>
                <a:path w="1609259" h="570757">
                  <a:moveTo>
                    <a:pt x="1406059" y="0"/>
                  </a:moveTo>
                  <a:cubicBezTo>
                    <a:pt x="1518283" y="0"/>
                    <a:pt x="1609259" y="127768"/>
                    <a:pt x="1609259" y="285379"/>
                  </a:cubicBezTo>
                  <a:cubicBezTo>
                    <a:pt x="1609259" y="442989"/>
                    <a:pt x="1518283" y="570757"/>
                    <a:pt x="1406059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625"/>
              <a:ext cx="1609259" cy="523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51024" y="3417493"/>
            <a:ext cx="2671121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Project (Get PCs/Scores)</a:t>
            </a:r>
          </a:p>
          <a:p>
            <a:pPr algn="ctr">
              <a:lnSpc>
                <a:spcPts val="2730"/>
              </a:lnSpc>
            </a:pPr>
            <a:endParaRPr lang="en-US" sz="2100" b="1">
              <a:solidFill>
                <a:srgbClr val="C9BBE8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17025" y="4557382"/>
            <a:ext cx="4333354" cy="108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sz="204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Transform the original data to the new axes.</a:t>
            </a:r>
          </a:p>
          <a:p>
            <a:pPr algn="just">
              <a:lnSpc>
                <a:spcPts val="2866"/>
              </a:lnSpc>
              <a:spcBef>
                <a:spcPct val="0"/>
              </a:spcBef>
            </a:pPr>
            <a:endParaRPr lang="en-US" sz="204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555296" y="4557382"/>
            <a:ext cx="4274966" cy="144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sz="204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Calculate the average squared difference between the original and reconstructed images.</a:t>
            </a:r>
          </a:p>
          <a:p>
            <a:pPr algn="just">
              <a:lnSpc>
                <a:spcPts val="2866"/>
              </a:lnSpc>
              <a:spcBef>
                <a:spcPct val="0"/>
              </a:spcBef>
            </a:pPr>
            <a:endParaRPr lang="en-US" sz="204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4" name="AutoShape 14"/>
          <p:cNvSpPr/>
          <p:nvPr/>
        </p:nvSpPr>
        <p:spPr>
          <a:xfrm flipV="1">
            <a:off x="5026327" y="3775633"/>
            <a:ext cx="1672800" cy="0"/>
          </a:xfrm>
          <a:prstGeom prst="line">
            <a:avLst/>
          </a:prstGeom>
          <a:ln w="38100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6699127" y="3194065"/>
            <a:ext cx="3279484" cy="1163137"/>
            <a:chOff x="0" y="0"/>
            <a:chExt cx="1609259" cy="5707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09259" cy="570757"/>
            </a:xfrm>
            <a:custGeom>
              <a:avLst/>
              <a:gdLst/>
              <a:ahLst/>
              <a:cxnLst/>
              <a:rect l="l" t="t" r="r" b="b"/>
              <a:pathLst>
                <a:path w="1609259" h="570757">
                  <a:moveTo>
                    <a:pt x="1406059" y="0"/>
                  </a:moveTo>
                  <a:cubicBezTo>
                    <a:pt x="1518283" y="0"/>
                    <a:pt x="1609259" y="127768"/>
                    <a:pt x="1609259" y="285379"/>
                  </a:cubicBezTo>
                  <a:cubicBezTo>
                    <a:pt x="1609259" y="442989"/>
                    <a:pt x="1518283" y="570757"/>
                    <a:pt x="1406059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7625"/>
              <a:ext cx="1609259" cy="523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22521" y="3436543"/>
            <a:ext cx="3432695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Reconstruction</a:t>
            </a:r>
          </a:p>
          <a:p>
            <a:pPr algn="ctr">
              <a:lnSpc>
                <a:spcPts val="2730"/>
              </a:lnSpc>
            </a:pPr>
            <a:r>
              <a:rPr lang="en-US" sz="21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 (Inverse PCT)</a:t>
            </a:r>
          </a:p>
          <a:p>
            <a:pPr algn="ctr">
              <a:lnSpc>
                <a:spcPts val="2730"/>
              </a:lnSpc>
            </a:pPr>
            <a:endParaRPr lang="en-US" sz="2100" b="1">
              <a:solidFill>
                <a:srgbClr val="C9BBE8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230044" y="4557382"/>
            <a:ext cx="4333354" cy="144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sz="204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Transform back to the original space using only the top 'k' components.</a:t>
            </a:r>
          </a:p>
          <a:p>
            <a:pPr algn="just">
              <a:lnSpc>
                <a:spcPts val="2866"/>
              </a:lnSpc>
              <a:spcBef>
                <a:spcPct val="0"/>
              </a:spcBef>
            </a:pPr>
            <a:endParaRPr lang="en-US" sz="2047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2961272" y="3194065"/>
            <a:ext cx="3279484" cy="1163137"/>
            <a:chOff x="0" y="0"/>
            <a:chExt cx="1609259" cy="5707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09259" cy="570757"/>
            </a:xfrm>
            <a:custGeom>
              <a:avLst/>
              <a:gdLst/>
              <a:ahLst/>
              <a:cxnLst/>
              <a:rect l="l" t="t" r="r" b="b"/>
              <a:pathLst>
                <a:path w="1609259" h="570757">
                  <a:moveTo>
                    <a:pt x="1406059" y="0"/>
                  </a:moveTo>
                  <a:cubicBezTo>
                    <a:pt x="1518283" y="0"/>
                    <a:pt x="1609259" y="127768"/>
                    <a:pt x="1609259" y="285379"/>
                  </a:cubicBezTo>
                  <a:cubicBezTo>
                    <a:pt x="1609259" y="442989"/>
                    <a:pt x="1518283" y="570757"/>
                    <a:pt x="1406059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47625"/>
              <a:ext cx="1609259" cy="523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156161" y="3423925"/>
            <a:ext cx="2889705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Mean-Squared Error (MSE)</a:t>
            </a:r>
          </a:p>
          <a:p>
            <a:pPr algn="ctr">
              <a:lnSpc>
                <a:spcPts val="2730"/>
              </a:lnSpc>
            </a:pPr>
            <a:endParaRPr lang="en-US" sz="2100" b="1">
              <a:solidFill>
                <a:srgbClr val="C9BBE8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978611" y="3775633"/>
            <a:ext cx="3027780" cy="0"/>
          </a:xfrm>
          <a:prstGeom prst="line">
            <a:avLst/>
          </a:prstGeom>
          <a:ln w="38100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>
            <a:off x="6622521" y="6000800"/>
            <a:ext cx="3304230" cy="1005635"/>
          </a:xfrm>
          <a:custGeom>
            <a:avLst/>
            <a:gdLst/>
            <a:ahLst/>
            <a:cxnLst/>
            <a:rect l="l" t="t" r="r" b="b"/>
            <a:pathLst>
              <a:path w="3304230" h="1005635">
                <a:moveTo>
                  <a:pt x="0" y="0"/>
                </a:moveTo>
                <a:lnTo>
                  <a:pt x="3304230" y="0"/>
                </a:lnTo>
                <a:lnTo>
                  <a:pt x="3304230" y="1005635"/>
                </a:lnTo>
                <a:lnTo>
                  <a:pt x="0" y="1005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746843" y="6000800"/>
            <a:ext cx="3663141" cy="999038"/>
          </a:xfrm>
          <a:custGeom>
            <a:avLst/>
            <a:gdLst/>
            <a:ahLst/>
            <a:cxnLst/>
            <a:rect l="l" t="t" r="r" b="b"/>
            <a:pathLst>
              <a:path w="3663141" h="999038">
                <a:moveTo>
                  <a:pt x="0" y="0"/>
                </a:moveTo>
                <a:lnTo>
                  <a:pt x="3663141" y="0"/>
                </a:lnTo>
                <a:lnTo>
                  <a:pt x="3663141" y="999038"/>
                </a:lnTo>
                <a:lnTo>
                  <a:pt x="0" y="999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11019223" y="6000800"/>
            <a:ext cx="7057089" cy="1005635"/>
          </a:xfrm>
          <a:custGeom>
            <a:avLst/>
            <a:gdLst/>
            <a:ahLst/>
            <a:cxnLst/>
            <a:rect l="l" t="t" r="r" b="b"/>
            <a:pathLst>
              <a:path w="7057089" h="1005635">
                <a:moveTo>
                  <a:pt x="0" y="0"/>
                </a:moveTo>
                <a:lnTo>
                  <a:pt x="7057089" y="0"/>
                </a:lnTo>
                <a:lnTo>
                  <a:pt x="7057089" y="1005635"/>
                </a:lnTo>
                <a:lnTo>
                  <a:pt x="0" y="10056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flipH="1">
            <a:off x="4796886" y="7586199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2"/>
                </a:lnTo>
                <a:lnTo>
                  <a:pt x="4240473" y="4240472"/>
                </a:lnTo>
                <a:lnTo>
                  <a:pt x="424047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2000250"/>
            <a:ext cx="1684116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Methodology &amp; Implementation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76300"/>
            <a:ext cx="6679586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Our Project: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7001" y="3877429"/>
            <a:ext cx="2262249" cy="886772"/>
            <a:chOff x="0" y="0"/>
            <a:chExt cx="1456062" cy="5707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56831" y="4190744"/>
            <a:ext cx="1842589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START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709251" y="4320815"/>
            <a:ext cx="1101085" cy="0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3810336" y="3877429"/>
            <a:ext cx="2262249" cy="886772"/>
            <a:chOff x="0" y="0"/>
            <a:chExt cx="1456062" cy="5707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757492" y="4074555"/>
            <a:ext cx="236793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LOAD N-BAND</a:t>
            </a:r>
          </a:p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 IMAGES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030800" y="4320815"/>
            <a:ext cx="1101085" cy="0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7131885" y="3877429"/>
            <a:ext cx="2262249" cy="886772"/>
            <a:chOff x="0" y="0"/>
            <a:chExt cx="1456062" cy="57075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079041" y="4074555"/>
            <a:ext cx="236793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COMPUTE MEAN &amp; CENTER DATA</a:t>
            </a:r>
          </a:p>
        </p:txBody>
      </p:sp>
      <p:sp>
        <p:nvSpPr>
          <p:cNvPr id="23" name="AutoShape 23"/>
          <p:cNvSpPr/>
          <p:nvPr/>
        </p:nvSpPr>
        <p:spPr>
          <a:xfrm>
            <a:off x="9352165" y="4320815"/>
            <a:ext cx="1101085" cy="0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10453250" y="3877429"/>
            <a:ext cx="2262249" cy="886772"/>
            <a:chOff x="0" y="0"/>
            <a:chExt cx="1456062" cy="57075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400406" y="3943842"/>
            <a:ext cx="236793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COMPUTE </a:t>
            </a:r>
          </a:p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COVARIANCE</a:t>
            </a:r>
          </a:p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MATRIX</a:t>
            </a:r>
          </a:p>
        </p:txBody>
      </p:sp>
      <p:sp>
        <p:nvSpPr>
          <p:cNvPr id="28" name="AutoShape 28"/>
          <p:cNvSpPr/>
          <p:nvPr/>
        </p:nvSpPr>
        <p:spPr>
          <a:xfrm>
            <a:off x="12673530" y="4320815"/>
            <a:ext cx="1101085" cy="0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29" name="Group 29"/>
          <p:cNvGrpSpPr/>
          <p:nvPr/>
        </p:nvGrpSpPr>
        <p:grpSpPr>
          <a:xfrm>
            <a:off x="13774615" y="3877429"/>
            <a:ext cx="2262249" cy="886772"/>
            <a:chOff x="0" y="0"/>
            <a:chExt cx="1456062" cy="57075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721771" y="4074555"/>
            <a:ext cx="236793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FIND EIGENVALUE</a:t>
            </a:r>
          </a:p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EIGENVECTOR</a:t>
            </a:r>
          </a:p>
        </p:txBody>
      </p:sp>
      <p:sp>
        <p:nvSpPr>
          <p:cNvPr id="33" name="AutoShape 33"/>
          <p:cNvSpPr/>
          <p:nvPr/>
        </p:nvSpPr>
        <p:spPr>
          <a:xfrm>
            <a:off x="13768523" y="6149785"/>
            <a:ext cx="1101085" cy="0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>
            <a:off x="14869608" y="5706399"/>
            <a:ext cx="2262249" cy="886772"/>
            <a:chOff x="0" y="0"/>
            <a:chExt cx="1456062" cy="57075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4816764" y="5903524"/>
            <a:ext cx="236793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SHOW PC IMAGE</a:t>
            </a:r>
          </a:p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ON DISPLAY</a:t>
            </a:r>
          </a:p>
        </p:txBody>
      </p:sp>
      <p:sp>
        <p:nvSpPr>
          <p:cNvPr id="38" name="AutoShape 38"/>
          <p:cNvSpPr/>
          <p:nvPr/>
        </p:nvSpPr>
        <p:spPr>
          <a:xfrm>
            <a:off x="10405189" y="6164308"/>
            <a:ext cx="1101085" cy="0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39" name="Group 39"/>
          <p:cNvGrpSpPr/>
          <p:nvPr/>
        </p:nvGrpSpPr>
        <p:grpSpPr>
          <a:xfrm>
            <a:off x="11506274" y="5720922"/>
            <a:ext cx="2262249" cy="886772"/>
            <a:chOff x="0" y="0"/>
            <a:chExt cx="1456062" cy="57075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453430" y="5918048"/>
            <a:ext cx="236793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SELECT TOP K PC’S </a:t>
            </a:r>
          </a:p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AND RECONSTRUCT</a:t>
            </a:r>
          </a:p>
        </p:txBody>
      </p:sp>
      <p:sp>
        <p:nvSpPr>
          <p:cNvPr id="43" name="AutoShape 43"/>
          <p:cNvSpPr/>
          <p:nvPr/>
        </p:nvSpPr>
        <p:spPr>
          <a:xfrm>
            <a:off x="7041855" y="6178832"/>
            <a:ext cx="1101085" cy="0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44" name="Group 44"/>
          <p:cNvGrpSpPr/>
          <p:nvPr/>
        </p:nvGrpSpPr>
        <p:grpSpPr>
          <a:xfrm>
            <a:off x="8142940" y="5735446"/>
            <a:ext cx="2262249" cy="886772"/>
            <a:chOff x="0" y="0"/>
            <a:chExt cx="1456062" cy="57075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090096" y="5809124"/>
            <a:ext cx="236793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SHOW ORIGINAL VS</a:t>
            </a:r>
          </a:p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RECOSTRUCTED</a:t>
            </a:r>
          </a:p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 BAND</a:t>
            </a:r>
          </a:p>
        </p:txBody>
      </p:sp>
      <p:sp>
        <p:nvSpPr>
          <p:cNvPr id="48" name="AutoShape 48"/>
          <p:cNvSpPr/>
          <p:nvPr/>
        </p:nvSpPr>
        <p:spPr>
          <a:xfrm>
            <a:off x="3709616" y="6200622"/>
            <a:ext cx="1101085" cy="0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/>
          </a:p>
        </p:txBody>
      </p:sp>
      <p:grpSp>
        <p:nvGrpSpPr>
          <p:cNvPr id="49" name="Group 49"/>
          <p:cNvGrpSpPr/>
          <p:nvPr/>
        </p:nvGrpSpPr>
        <p:grpSpPr>
          <a:xfrm>
            <a:off x="4810700" y="5757236"/>
            <a:ext cx="2262249" cy="886772"/>
            <a:chOff x="0" y="0"/>
            <a:chExt cx="1456062" cy="57075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4705012" y="6034237"/>
            <a:ext cx="2367937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DISPLAY MSE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478461" y="5779025"/>
            <a:ext cx="2262249" cy="886772"/>
            <a:chOff x="0" y="0"/>
            <a:chExt cx="1456062" cy="57075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456062" cy="570757"/>
            </a:xfrm>
            <a:custGeom>
              <a:avLst/>
              <a:gdLst/>
              <a:ahLst/>
              <a:cxnLst/>
              <a:rect l="l" t="t" r="r" b="b"/>
              <a:pathLst>
                <a:path w="1456062" h="570757">
                  <a:moveTo>
                    <a:pt x="1252862" y="0"/>
                  </a:moveTo>
                  <a:cubicBezTo>
                    <a:pt x="1365087" y="0"/>
                    <a:pt x="1456062" y="127768"/>
                    <a:pt x="1456062" y="285379"/>
                  </a:cubicBezTo>
                  <a:cubicBezTo>
                    <a:pt x="1456062" y="442989"/>
                    <a:pt x="1365087" y="570757"/>
                    <a:pt x="1252862" y="570757"/>
                  </a:cubicBezTo>
                  <a:lnTo>
                    <a:pt x="203200" y="570757"/>
                  </a:lnTo>
                  <a:cubicBezTo>
                    <a:pt x="90976" y="570757"/>
                    <a:pt x="0" y="442989"/>
                    <a:pt x="0" y="285379"/>
                  </a:cubicBezTo>
                  <a:cubicBezTo>
                    <a:pt x="0" y="1277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38100"/>
              <a:ext cx="1456062" cy="53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55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785906" y="6092340"/>
            <a:ext cx="164736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b="1">
                <a:solidFill>
                  <a:srgbClr val="C9BBE8"/>
                </a:solidFill>
                <a:latin typeface="Garet Bold"/>
                <a:ea typeface="Garet Bold"/>
                <a:cs typeface="Garet Bold"/>
                <a:sym typeface="Garet Bold"/>
              </a:rPr>
              <a:t>END</a:t>
            </a:r>
          </a:p>
        </p:txBody>
      </p:sp>
      <p:sp>
        <p:nvSpPr>
          <p:cNvPr id="57" name="AutoShape 57"/>
          <p:cNvSpPr/>
          <p:nvPr/>
        </p:nvSpPr>
        <p:spPr>
          <a:xfrm>
            <a:off x="16106914" y="4347467"/>
            <a:ext cx="1439829" cy="5889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 dirty="0"/>
          </a:p>
        </p:txBody>
      </p:sp>
      <p:sp>
        <p:nvSpPr>
          <p:cNvPr id="58" name="AutoShape 57">
            <a:extLst>
              <a:ext uri="{FF2B5EF4-FFF2-40B4-BE49-F238E27FC236}">
                <a16:creationId xmlns:a16="http://schemas.microsoft.com/office/drawing/2014/main" id="{CE2A92F2-3925-BDFD-5EEB-05C54E4332BA}"/>
              </a:ext>
            </a:extLst>
          </p:cNvPr>
          <p:cNvSpPr/>
          <p:nvPr/>
        </p:nvSpPr>
        <p:spPr>
          <a:xfrm>
            <a:off x="17578741" y="4356458"/>
            <a:ext cx="11177" cy="1793327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 dirty="0"/>
          </a:p>
        </p:txBody>
      </p:sp>
      <p:sp>
        <p:nvSpPr>
          <p:cNvPr id="59" name="AutoShape 57">
            <a:extLst>
              <a:ext uri="{FF2B5EF4-FFF2-40B4-BE49-F238E27FC236}">
                <a16:creationId xmlns:a16="http://schemas.microsoft.com/office/drawing/2014/main" id="{CA1DC164-3047-15F6-D3A2-435DEE62FA8F}"/>
              </a:ext>
            </a:extLst>
          </p:cNvPr>
          <p:cNvSpPr/>
          <p:nvPr/>
        </p:nvSpPr>
        <p:spPr>
          <a:xfrm flipH="1" flipV="1">
            <a:off x="17206740" y="6164308"/>
            <a:ext cx="372001" cy="0"/>
          </a:xfrm>
          <a:prstGeom prst="line">
            <a:avLst/>
          </a:prstGeom>
          <a:ln w="28575" cap="flat">
            <a:gradFill>
              <a:gsLst>
                <a:gs pos="0">
                  <a:srgbClr val="92A6DD">
                    <a:alpha val="100000"/>
                  </a:srgbClr>
                </a:gs>
                <a:gs pos="100000">
                  <a:srgbClr val="DF96DA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195955" y="4074949"/>
            <a:ext cx="4796896" cy="608841"/>
            <a:chOff x="0" y="0"/>
            <a:chExt cx="3201916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01916" cy="406400"/>
            </a:xfrm>
            <a:custGeom>
              <a:avLst/>
              <a:gdLst/>
              <a:ahLst/>
              <a:cxnLst/>
              <a:rect l="l" t="t" r="r" b="b"/>
              <a:pathLst>
                <a:path w="3201916" h="406400">
                  <a:moveTo>
                    <a:pt x="2998716" y="0"/>
                  </a:moveTo>
                  <a:cubicBezTo>
                    <a:pt x="3110941" y="0"/>
                    <a:pt x="3201916" y="90976"/>
                    <a:pt x="3201916" y="203200"/>
                  </a:cubicBezTo>
                  <a:cubicBezTo>
                    <a:pt x="3201916" y="315424"/>
                    <a:pt x="3110941" y="406400"/>
                    <a:pt x="29987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3201916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895" y="1905000"/>
            <a:ext cx="8762872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 dirty="0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Libraries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2895" y="876300"/>
            <a:ext cx="8253940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Project Toolkit: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3143" y="4138093"/>
            <a:ext cx="2704114" cy="41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Tkinter (tk, ttk)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2447" y="4852025"/>
            <a:ext cx="1491572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  <a:spcBef>
                <a:spcPct val="0"/>
              </a:spcBef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Used to build the entire graphical user interface (GUI), including buttons, sliders and canvases.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95955" y="5540736"/>
            <a:ext cx="4796896" cy="608841"/>
            <a:chOff x="0" y="0"/>
            <a:chExt cx="3201916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01916" cy="406400"/>
            </a:xfrm>
            <a:custGeom>
              <a:avLst/>
              <a:gdLst/>
              <a:ahLst/>
              <a:cxnLst/>
              <a:rect l="l" t="t" r="r" b="b"/>
              <a:pathLst>
                <a:path w="3201916" h="406400">
                  <a:moveTo>
                    <a:pt x="2998716" y="0"/>
                  </a:moveTo>
                  <a:cubicBezTo>
                    <a:pt x="3110941" y="0"/>
                    <a:pt x="3201916" y="90976"/>
                    <a:pt x="3201916" y="203200"/>
                  </a:cubicBezTo>
                  <a:cubicBezTo>
                    <a:pt x="3201916" y="315424"/>
                    <a:pt x="3110941" y="406400"/>
                    <a:pt x="29987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7625"/>
              <a:ext cx="3201916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53143" y="5603880"/>
            <a:ext cx="3111307" cy="41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NumPy (np)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2447" y="6349602"/>
            <a:ext cx="12706185" cy="221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038" lvl="1" indent="-230519" algn="l">
              <a:lnSpc>
                <a:spcPts val="2989"/>
              </a:lnSpc>
              <a:buFont typeface="Arial"/>
              <a:buChar char="•"/>
            </a:pPr>
            <a:r>
              <a:rPr lang="en-US" sz="2135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The core of the project. Used for:</a:t>
            </a:r>
          </a:p>
          <a:p>
            <a:pPr marL="461038" lvl="1" indent="-230519" algn="l">
              <a:lnSpc>
                <a:spcPts val="2989"/>
              </a:lnSpc>
              <a:buFont typeface="Arial"/>
              <a:buChar char="•"/>
            </a:pPr>
            <a:r>
              <a:rPr lang="en-US" sz="2135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All N-dimensional array storage (the image stack).</a:t>
            </a:r>
          </a:p>
          <a:p>
            <a:pPr marL="461038" lvl="1" indent="-230519" algn="l">
              <a:lnSpc>
                <a:spcPts val="2989"/>
              </a:lnSpc>
              <a:buFont typeface="Arial"/>
              <a:buChar char="•"/>
            </a:pPr>
            <a:r>
              <a:rPr lang="en-US" sz="2135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Calculating the Covariance Matrix ((</a:t>
            </a:r>
            <a:r>
              <a:rPr lang="en-US" sz="2135" dirty="0" err="1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Xc.T</a:t>
            </a:r>
            <a:r>
              <a:rPr lang="en-US" sz="2135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@ </a:t>
            </a:r>
            <a:r>
              <a:rPr lang="en-US" sz="2135" dirty="0" err="1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Xc</a:t>
            </a:r>
            <a:r>
              <a:rPr lang="en-US" sz="2135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)).</a:t>
            </a:r>
          </a:p>
          <a:p>
            <a:pPr marL="461038" lvl="1" indent="-230519" algn="l">
              <a:lnSpc>
                <a:spcPts val="2989"/>
              </a:lnSpc>
              <a:buFont typeface="Arial"/>
              <a:buChar char="•"/>
            </a:pPr>
            <a:r>
              <a:rPr lang="en-US" sz="2135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The built-in </a:t>
            </a:r>
            <a:r>
              <a:rPr lang="en-US" sz="2135" dirty="0" err="1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np.linalg.eigh</a:t>
            </a:r>
            <a:r>
              <a:rPr lang="en-US" sz="2135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for Eigen-decomposition.</a:t>
            </a:r>
          </a:p>
          <a:p>
            <a:pPr marL="461038" lvl="1" indent="-230519" algn="l">
              <a:lnSpc>
                <a:spcPts val="2989"/>
              </a:lnSpc>
              <a:buFont typeface="Arial"/>
              <a:buChar char="•"/>
            </a:pPr>
            <a:r>
              <a:rPr lang="en-US" sz="2135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All matrix-based projections and reconstructions.</a:t>
            </a:r>
          </a:p>
          <a:p>
            <a:pPr algn="l">
              <a:lnSpc>
                <a:spcPts val="2989"/>
              </a:lnSpc>
              <a:spcBef>
                <a:spcPct val="0"/>
              </a:spcBef>
            </a:pPr>
            <a:endParaRPr lang="en-US" sz="2135" dirty="0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8" name="Freeform 18"/>
          <p:cNvSpPr/>
          <p:nvPr/>
        </p:nvSpPr>
        <p:spPr>
          <a:xfrm flipH="1">
            <a:off x="16552500" y="-593495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 flipH="1">
            <a:off x="-697275" y="7630763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271241" y="3348138"/>
            <a:ext cx="11183892" cy="72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This project was built using a combination of powerful Python libraries:</a:t>
            </a:r>
          </a:p>
          <a:p>
            <a:pPr algn="l">
              <a:lnSpc>
                <a:spcPts val="2989"/>
              </a:lnSpc>
              <a:spcBef>
                <a:spcPct val="0"/>
              </a:spcBef>
            </a:pPr>
            <a:endParaRPr lang="en-US" sz="2135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195955" y="4074949"/>
            <a:ext cx="4796896" cy="608841"/>
            <a:chOff x="0" y="0"/>
            <a:chExt cx="3201916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01916" cy="406400"/>
            </a:xfrm>
            <a:custGeom>
              <a:avLst/>
              <a:gdLst/>
              <a:ahLst/>
              <a:cxnLst/>
              <a:rect l="l" t="t" r="r" b="b"/>
              <a:pathLst>
                <a:path w="3201916" h="406400">
                  <a:moveTo>
                    <a:pt x="2998716" y="0"/>
                  </a:moveTo>
                  <a:cubicBezTo>
                    <a:pt x="3110941" y="0"/>
                    <a:pt x="3201916" y="90976"/>
                    <a:pt x="3201916" y="203200"/>
                  </a:cubicBezTo>
                  <a:cubicBezTo>
                    <a:pt x="3201916" y="315424"/>
                    <a:pt x="3110941" y="406400"/>
                    <a:pt x="29987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3201916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2895" y="1905000"/>
            <a:ext cx="8762872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Libraries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2895" y="876300"/>
            <a:ext cx="8253940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Project Toolkit: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3143" y="4138093"/>
            <a:ext cx="2704114" cy="41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Pillow (PIL)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2447" y="4852025"/>
            <a:ext cx="14915728" cy="35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  <a:spcBef>
                <a:spcPct val="0"/>
              </a:spcBef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Used to convert NumPy arrays into ImageTk objects that can be displayed inside the Tkinter GUI.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95955" y="5540736"/>
            <a:ext cx="4796896" cy="608841"/>
            <a:chOff x="0" y="0"/>
            <a:chExt cx="3201916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01916" cy="406400"/>
            </a:xfrm>
            <a:custGeom>
              <a:avLst/>
              <a:gdLst/>
              <a:ahLst/>
              <a:cxnLst/>
              <a:rect l="l" t="t" r="r" b="b"/>
              <a:pathLst>
                <a:path w="3201916" h="406400">
                  <a:moveTo>
                    <a:pt x="2998716" y="0"/>
                  </a:moveTo>
                  <a:cubicBezTo>
                    <a:pt x="3110941" y="0"/>
                    <a:pt x="3201916" y="90976"/>
                    <a:pt x="3201916" y="203200"/>
                  </a:cubicBezTo>
                  <a:cubicBezTo>
                    <a:pt x="3201916" y="315424"/>
                    <a:pt x="3110941" y="406400"/>
                    <a:pt x="29987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7625"/>
              <a:ext cx="3201916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53143" y="5603880"/>
            <a:ext cx="3111307" cy="41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ImageIO &amp; Tifffile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2447" y="6349602"/>
            <a:ext cx="14368731" cy="109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Essential for reading the input data, handling both standard formats (like .png) and scientific formats (like multi-band .tif files).</a:t>
            </a:r>
          </a:p>
          <a:p>
            <a:pPr algn="l">
              <a:lnSpc>
                <a:spcPts val="2989"/>
              </a:lnSpc>
              <a:spcBef>
                <a:spcPct val="0"/>
              </a:spcBef>
            </a:pPr>
            <a:endParaRPr lang="en-US" sz="2135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8" name="Freeform 18"/>
          <p:cNvSpPr/>
          <p:nvPr/>
        </p:nvSpPr>
        <p:spPr>
          <a:xfrm flipH="1">
            <a:off x="16552500" y="-593495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 flipH="1">
            <a:off x="-697275" y="7630763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3" y="0"/>
                </a:moveTo>
                <a:lnTo>
                  <a:pt x="0" y="0"/>
                </a:lnTo>
                <a:lnTo>
                  <a:pt x="0" y="4240473"/>
                </a:lnTo>
                <a:lnTo>
                  <a:pt x="4240473" y="4240473"/>
                </a:lnTo>
                <a:lnTo>
                  <a:pt x="424047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271241" y="3348138"/>
            <a:ext cx="11183892" cy="72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This project was built using a combination of powerful Python libraries:</a:t>
            </a:r>
          </a:p>
          <a:p>
            <a:pPr algn="l">
              <a:lnSpc>
                <a:spcPts val="2989"/>
              </a:lnSpc>
              <a:spcBef>
                <a:spcPct val="0"/>
              </a:spcBef>
            </a:pPr>
            <a:endParaRPr lang="en-US" sz="2135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195955" y="7330677"/>
            <a:ext cx="4796896" cy="608841"/>
            <a:chOff x="0" y="0"/>
            <a:chExt cx="3201916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01916" cy="406400"/>
            </a:xfrm>
            <a:custGeom>
              <a:avLst/>
              <a:gdLst/>
              <a:ahLst/>
              <a:cxnLst/>
              <a:rect l="l" t="t" r="r" b="b"/>
              <a:pathLst>
                <a:path w="3201916" h="406400">
                  <a:moveTo>
                    <a:pt x="2998716" y="0"/>
                  </a:moveTo>
                  <a:cubicBezTo>
                    <a:pt x="3110941" y="0"/>
                    <a:pt x="3201916" y="90976"/>
                    <a:pt x="3201916" y="203200"/>
                  </a:cubicBezTo>
                  <a:cubicBezTo>
                    <a:pt x="3201916" y="315424"/>
                    <a:pt x="3110941" y="406400"/>
                    <a:pt x="29987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7625"/>
              <a:ext cx="3201916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5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53143" y="7393821"/>
            <a:ext cx="4439709" cy="84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Scikit-image (skimage)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  <a:endParaRPr lang="en-US" sz="2435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22447" y="8139543"/>
            <a:ext cx="14368731" cy="72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Used for utility functions, specifically resize to ensure all input bands match in dimension.</a:t>
            </a:r>
          </a:p>
          <a:p>
            <a:pPr algn="l">
              <a:lnSpc>
                <a:spcPts val="2989"/>
              </a:lnSpc>
              <a:spcBef>
                <a:spcPct val="0"/>
              </a:spcBef>
            </a:pPr>
            <a:endParaRPr lang="en-US" sz="2135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561401" y="2043450"/>
            <a:ext cx="13665692" cy="7249391"/>
          </a:xfrm>
          <a:custGeom>
            <a:avLst/>
            <a:gdLst/>
            <a:ahLst/>
            <a:cxnLst/>
            <a:rect l="l" t="t" r="r" b="b"/>
            <a:pathLst>
              <a:path w="13665692" h="7249391">
                <a:moveTo>
                  <a:pt x="0" y="0"/>
                </a:moveTo>
                <a:lnTo>
                  <a:pt x="13665692" y="0"/>
                </a:lnTo>
                <a:lnTo>
                  <a:pt x="13665692" y="7249391"/>
                </a:lnTo>
                <a:lnTo>
                  <a:pt x="0" y="72493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374" b="-643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561401" y="617624"/>
            <a:ext cx="14338099" cy="269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Our Application </a:t>
            </a:r>
            <a:r>
              <a:rPr lang="en-US" sz="773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Interface</a:t>
            </a:r>
          </a:p>
          <a:p>
            <a:pPr algn="l">
              <a:lnSpc>
                <a:spcPts val="10822"/>
              </a:lnSpc>
              <a:spcBef>
                <a:spcPct val="0"/>
              </a:spcBef>
            </a:pPr>
            <a:endParaRPr lang="en-US" sz="773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8" name="AutoShape 8"/>
          <p:cNvSpPr/>
          <p:nvPr/>
        </p:nvSpPr>
        <p:spPr>
          <a:xfrm flipH="1" flipV="1">
            <a:off x="922091" y="2643015"/>
            <a:ext cx="14200063" cy="1018216"/>
          </a:xfrm>
          <a:prstGeom prst="line">
            <a:avLst/>
          </a:prstGeom>
          <a:ln w="57150" cap="flat">
            <a:solidFill>
              <a:srgbClr val="FF3131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9" name="AutoShape 9"/>
          <p:cNvSpPr/>
          <p:nvPr/>
        </p:nvSpPr>
        <p:spPr>
          <a:xfrm flipH="1" flipV="1">
            <a:off x="1960400" y="2643015"/>
            <a:ext cx="13113294" cy="2361413"/>
          </a:xfrm>
          <a:prstGeom prst="line">
            <a:avLst/>
          </a:prstGeom>
          <a:ln w="57150" cap="flat">
            <a:solidFill>
              <a:srgbClr val="0097B2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 flipH="1">
            <a:off x="9973183" y="6218002"/>
            <a:ext cx="5148970" cy="0"/>
          </a:xfrm>
          <a:prstGeom prst="line">
            <a:avLst/>
          </a:prstGeom>
          <a:ln w="57150" cap="flat">
            <a:solidFill>
              <a:srgbClr val="00BF63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1" name="AutoShape 11"/>
          <p:cNvSpPr/>
          <p:nvPr/>
        </p:nvSpPr>
        <p:spPr>
          <a:xfrm flipH="1" flipV="1">
            <a:off x="2556250" y="6921028"/>
            <a:ext cx="12565903" cy="0"/>
          </a:xfrm>
          <a:prstGeom prst="line">
            <a:avLst/>
          </a:prstGeom>
          <a:ln w="57150" cap="flat">
            <a:solidFill>
              <a:srgbClr val="FF66C4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5267001" y="3372194"/>
            <a:ext cx="2049415" cy="72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Band Loader</a:t>
            </a:r>
          </a:p>
          <a:p>
            <a:pPr algn="l">
              <a:lnSpc>
                <a:spcPts val="2989"/>
              </a:lnSpc>
              <a:spcBef>
                <a:spcPct val="0"/>
              </a:spcBef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(select files)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7001" y="4557711"/>
            <a:ext cx="2570998" cy="109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PCA Control</a:t>
            </a:r>
          </a:p>
          <a:p>
            <a:pPr algn="l">
              <a:lnSpc>
                <a:spcPts val="2989"/>
              </a:lnSpc>
              <a:spcBef>
                <a:spcPct val="0"/>
              </a:spcBef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(load and compute PCA)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34046" y="6008421"/>
            <a:ext cx="2049415" cy="35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  <a:spcBef>
                <a:spcPct val="0"/>
              </a:spcBef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PC Display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34046" y="6711447"/>
            <a:ext cx="2049415" cy="35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  <a:spcBef>
                <a:spcPct val="0"/>
              </a:spcBef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Report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334046" y="2445359"/>
            <a:ext cx="2570998" cy="72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Inverse PCA </a:t>
            </a:r>
          </a:p>
          <a:p>
            <a:pPr algn="l">
              <a:lnSpc>
                <a:spcPts val="2989"/>
              </a:lnSpc>
              <a:spcBef>
                <a:spcPct val="0"/>
              </a:spcBef>
            </a:pPr>
            <a:r>
              <a:rPr lang="en-US" sz="21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Control</a:t>
            </a:r>
          </a:p>
        </p:txBody>
      </p:sp>
      <p:sp>
        <p:nvSpPr>
          <p:cNvPr id="17" name="AutoShape 17"/>
          <p:cNvSpPr/>
          <p:nvPr/>
        </p:nvSpPr>
        <p:spPr>
          <a:xfrm flipH="1" flipV="1">
            <a:off x="3057194" y="2606118"/>
            <a:ext cx="12064960" cy="36897"/>
          </a:xfrm>
          <a:prstGeom prst="line">
            <a:avLst/>
          </a:prstGeom>
          <a:ln w="57150" cap="flat">
            <a:solidFill>
              <a:srgbClr val="FF751F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57325" y="1644485"/>
            <a:ext cx="6783550" cy="6645110"/>
          </a:xfrm>
          <a:custGeom>
            <a:avLst/>
            <a:gdLst/>
            <a:ahLst/>
            <a:cxnLst/>
            <a:rect l="l" t="t" r="r" b="b"/>
            <a:pathLst>
              <a:path w="6783550" h="6645110">
                <a:moveTo>
                  <a:pt x="0" y="0"/>
                </a:moveTo>
                <a:lnTo>
                  <a:pt x="6783550" y="0"/>
                </a:lnTo>
                <a:lnTo>
                  <a:pt x="6783550" y="6645110"/>
                </a:lnTo>
                <a:lnTo>
                  <a:pt x="0" y="6645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1998" t="-15279" r="-63835" b="-2014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9169397" y="1644485"/>
            <a:ext cx="6846477" cy="6645110"/>
          </a:xfrm>
          <a:custGeom>
            <a:avLst/>
            <a:gdLst/>
            <a:ahLst/>
            <a:cxnLst/>
            <a:rect l="l" t="t" r="r" b="b"/>
            <a:pathLst>
              <a:path w="6846477" h="6645110">
                <a:moveTo>
                  <a:pt x="0" y="0"/>
                </a:moveTo>
                <a:lnTo>
                  <a:pt x="6846477" y="0"/>
                </a:lnTo>
                <a:lnTo>
                  <a:pt x="6846477" y="6645110"/>
                </a:lnTo>
                <a:lnTo>
                  <a:pt x="0" y="66451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3750" t="-16050" r="-64260" b="-2188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457325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69397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57325" y="1644485"/>
            <a:ext cx="6830987" cy="6645110"/>
          </a:xfrm>
          <a:custGeom>
            <a:avLst/>
            <a:gdLst/>
            <a:ahLst/>
            <a:cxnLst/>
            <a:rect l="l" t="t" r="r" b="b"/>
            <a:pathLst>
              <a:path w="6830987" h="6645110">
                <a:moveTo>
                  <a:pt x="0" y="0"/>
                </a:moveTo>
                <a:lnTo>
                  <a:pt x="6830987" y="0"/>
                </a:lnTo>
                <a:lnTo>
                  <a:pt x="6830987" y="6645110"/>
                </a:lnTo>
                <a:lnTo>
                  <a:pt x="0" y="6645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1998" t="-15036" r="-63835" b="-213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9169397" y="1644485"/>
            <a:ext cx="6850252" cy="6620235"/>
          </a:xfrm>
          <a:custGeom>
            <a:avLst/>
            <a:gdLst/>
            <a:ahLst/>
            <a:cxnLst/>
            <a:rect l="l" t="t" r="r" b="b"/>
            <a:pathLst>
              <a:path w="6850252" h="6620235">
                <a:moveTo>
                  <a:pt x="0" y="0"/>
                </a:moveTo>
                <a:lnTo>
                  <a:pt x="6850252" y="0"/>
                </a:lnTo>
                <a:lnTo>
                  <a:pt x="6850252" y="6620235"/>
                </a:lnTo>
                <a:lnTo>
                  <a:pt x="0" y="66202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2359" t="-15667" r="-64656" b="-2228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457325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69397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57325" y="1644485"/>
            <a:ext cx="6760099" cy="6620235"/>
          </a:xfrm>
          <a:custGeom>
            <a:avLst/>
            <a:gdLst/>
            <a:ahLst/>
            <a:cxnLst/>
            <a:rect l="l" t="t" r="r" b="b"/>
            <a:pathLst>
              <a:path w="6760099" h="6620235">
                <a:moveTo>
                  <a:pt x="0" y="0"/>
                </a:moveTo>
                <a:lnTo>
                  <a:pt x="6760099" y="0"/>
                </a:lnTo>
                <a:lnTo>
                  <a:pt x="6760099" y="6620235"/>
                </a:lnTo>
                <a:lnTo>
                  <a:pt x="0" y="6620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681" t="-15846" r="-65405" b="-2148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9169397" y="1644485"/>
            <a:ext cx="6846477" cy="6613604"/>
          </a:xfrm>
          <a:custGeom>
            <a:avLst/>
            <a:gdLst/>
            <a:ahLst/>
            <a:cxnLst/>
            <a:rect l="l" t="t" r="r" b="b"/>
            <a:pathLst>
              <a:path w="6846477" h="6613604">
                <a:moveTo>
                  <a:pt x="0" y="0"/>
                </a:moveTo>
                <a:lnTo>
                  <a:pt x="6846477" y="0"/>
                </a:lnTo>
                <a:lnTo>
                  <a:pt x="6846477" y="6613604"/>
                </a:lnTo>
                <a:lnTo>
                  <a:pt x="0" y="6613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1998" t="-15846" r="-63835" b="-2148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457325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69397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57325" y="1644485"/>
            <a:ext cx="6799902" cy="6613604"/>
          </a:xfrm>
          <a:custGeom>
            <a:avLst/>
            <a:gdLst/>
            <a:ahLst/>
            <a:cxnLst/>
            <a:rect l="l" t="t" r="r" b="b"/>
            <a:pathLst>
              <a:path w="6799902" h="6613604">
                <a:moveTo>
                  <a:pt x="0" y="0"/>
                </a:moveTo>
                <a:lnTo>
                  <a:pt x="6799902" y="0"/>
                </a:lnTo>
                <a:lnTo>
                  <a:pt x="6799902" y="6613604"/>
                </a:lnTo>
                <a:lnTo>
                  <a:pt x="0" y="66136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176" t="-15846" r="-64272" b="-2148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9309773" y="1644485"/>
            <a:ext cx="6706102" cy="6613604"/>
          </a:xfrm>
          <a:custGeom>
            <a:avLst/>
            <a:gdLst/>
            <a:ahLst/>
            <a:cxnLst/>
            <a:rect l="l" t="t" r="r" b="b"/>
            <a:pathLst>
              <a:path w="6706102" h="6613604">
                <a:moveTo>
                  <a:pt x="0" y="0"/>
                </a:moveTo>
                <a:lnTo>
                  <a:pt x="6706101" y="0"/>
                </a:lnTo>
                <a:lnTo>
                  <a:pt x="6706101" y="6613604"/>
                </a:lnTo>
                <a:lnTo>
                  <a:pt x="0" y="6613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3681" t="-15036" r="-65405" b="-213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457325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69397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57325" y="1644485"/>
            <a:ext cx="6753328" cy="6613604"/>
          </a:xfrm>
          <a:custGeom>
            <a:avLst/>
            <a:gdLst/>
            <a:ahLst/>
            <a:cxnLst/>
            <a:rect l="l" t="t" r="r" b="b"/>
            <a:pathLst>
              <a:path w="6753328" h="6613604">
                <a:moveTo>
                  <a:pt x="0" y="0"/>
                </a:moveTo>
                <a:lnTo>
                  <a:pt x="6753328" y="0"/>
                </a:lnTo>
                <a:lnTo>
                  <a:pt x="6753328" y="6613604"/>
                </a:lnTo>
                <a:lnTo>
                  <a:pt x="0" y="66136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370" t="-15846" r="-64715" b="-2148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9309773" y="1644485"/>
            <a:ext cx="6807258" cy="6613604"/>
          </a:xfrm>
          <a:custGeom>
            <a:avLst/>
            <a:gdLst/>
            <a:ahLst/>
            <a:cxnLst/>
            <a:rect l="l" t="t" r="r" b="b"/>
            <a:pathLst>
              <a:path w="6807258" h="6613604">
                <a:moveTo>
                  <a:pt x="0" y="0"/>
                </a:moveTo>
                <a:lnTo>
                  <a:pt x="6807257" y="0"/>
                </a:lnTo>
                <a:lnTo>
                  <a:pt x="6807257" y="6613604"/>
                </a:lnTo>
                <a:lnTo>
                  <a:pt x="0" y="6613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4118" t="-15668" r="-64157" b="-2228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457325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69397" y="508039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28700" y="1861768"/>
            <a:ext cx="6753328" cy="6613604"/>
          </a:xfrm>
          <a:custGeom>
            <a:avLst/>
            <a:gdLst/>
            <a:ahLst/>
            <a:cxnLst/>
            <a:rect l="l" t="t" r="r" b="b"/>
            <a:pathLst>
              <a:path w="6753328" h="6613604">
                <a:moveTo>
                  <a:pt x="0" y="0"/>
                </a:moveTo>
                <a:lnTo>
                  <a:pt x="6753328" y="0"/>
                </a:lnTo>
                <a:lnTo>
                  <a:pt x="6753328" y="6613604"/>
                </a:lnTo>
                <a:lnTo>
                  <a:pt x="0" y="66136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370" t="-15846" r="-64715" b="-2148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028700" y="1885702"/>
            <a:ext cx="6753328" cy="6565735"/>
          </a:xfrm>
          <a:custGeom>
            <a:avLst/>
            <a:gdLst/>
            <a:ahLst/>
            <a:cxnLst/>
            <a:rect l="l" t="t" r="r" b="b"/>
            <a:pathLst>
              <a:path w="6753328" h="6565735">
                <a:moveTo>
                  <a:pt x="0" y="0"/>
                </a:moveTo>
                <a:lnTo>
                  <a:pt x="6753328" y="0"/>
                </a:lnTo>
                <a:lnTo>
                  <a:pt x="6753328" y="6565736"/>
                </a:lnTo>
                <a:lnTo>
                  <a:pt x="0" y="65657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4887" t="-16787" r="-65859" b="-2250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9862872" y="1861768"/>
            <a:ext cx="4883714" cy="6589669"/>
          </a:xfrm>
          <a:custGeom>
            <a:avLst/>
            <a:gdLst/>
            <a:ahLst/>
            <a:cxnLst/>
            <a:rect l="l" t="t" r="r" b="b"/>
            <a:pathLst>
              <a:path w="4883714" h="6589669">
                <a:moveTo>
                  <a:pt x="0" y="0"/>
                </a:moveTo>
                <a:lnTo>
                  <a:pt x="4883715" y="0"/>
                </a:lnTo>
                <a:lnTo>
                  <a:pt x="4883715" y="6589670"/>
                </a:lnTo>
                <a:lnTo>
                  <a:pt x="0" y="658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028700" y="725323"/>
            <a:ext cx="1867503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PC11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62872" y="725323"/>
            <a:ext cx="340260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REPORT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165525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17105700" y="7306913"/>
            <a:ext cx="555524" cy="558571"/>
          </a:xfrm>
          <a:custGeom>
            <a:avLst/>
            <a:gdLst/>
            <a:ahLst/>
            <a:cxnLst/>
            <a:rect l="l" t="t" r="r" b="b"/>
            <a:pathLst>
              <a:path w="555524" h="558571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2138169" y="1965021"/>
            <a:ext cx="12184498" cy="6853780"/>
          </a:xfrm>
          <a:custGeom>
            <a:avLst/>
            <a:gdLst/>
            <a:ahLst/>
            <a:cxnLst/>
            <a:rect l="l" t="t" r="r" b="b"/>
            <a:pathLst>
              <a:path w="12184498" h="6853780">
                <a:moveTo>
                  <a:pt x="0" y="0"/>
                </a:moveTo>
                <a:lnTo>
                  <a:pt x="12184498" y="0"/>
                </a:lnTo>
                <a:lnTo>
                  <a:pt x="12184498" y="6853780"/>
                </a:lnTo>
                <a:lnTo>
                  <a:pt x="0" y="68537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725323"/>
            <a:ext cx="14987174" cy="9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9"/>
              </a:lnSpc>
              <a:spcBef>
                <a:spcPct val="0"/>
              </a:spcBef>
            </a:pPr>
            <a:r>
              <a:rPr lang="en-US" sz="547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Original v/s Recostructed Image(k=3)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803029" y="2362393"/>
            <a:ext cx="4201387" cy="5562214"/>
          </a:xfrm>
          <a:custGeom>
            <a:avLst/>
            <a:gdLst/>
            <a:ahLst/>
            <a:cxnLst/>
            <a:rect l="l" t="t" r="r" b="b"/>
            <a:pathLst>
              <a:path w="4201387" h="5562214">
                <a:moveTo>
                  <a:pt x="0" y="0"/>
                </a:moveTo>
                <a:lnTo>
                  <a:pt x="4201388" y="0"/>
                </a:lnTo>
                <a:lnTo>
                  <a:pt x="4201388" y="5562214"/>
                </a:lnTo>
                <a:lnTo>
                  <a:pt x="0" y="5562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3829045"/>
            <a:ext cx="8762872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Variance &amp; Error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800345"/>
            <a:ext cx="4108065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Results: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297616"/>
            <a:ext cx="8494452" cy="2036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Original Bands vs. Reconstructed Bands (from Top 3 PCs)</a:t>
            </a:r>
          </a:p>
          <a:p>
            <a:pPr marL="500319" lvl="1" indent="-250160" algn="l">
              <a:lnSpc>
                <a:spcPts val="3244"/>
              </a:lnSpc>
              <a:buFont typeface="Arial"/>
              <a:buChar char="•"/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Result: Visually almost identical to the original.</a:t>
            </a:r>
          </a:p>
          <a:p>
            <a:pPr marL="500319" lvl="1" indent="-250160" algn="l">
              <a:lnSpc>
                <a:spcPts val="3244"/>
              </a:lnSpc>
              <a:buFont typeface="Arial"/>
              <a:buChar char="•"/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Overall MSE (for k=3): 136,714.578125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  <a:endParaRPr lang="en-US" sz="2317" dirty="0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2261772"/>
            <a:ext cx="8281604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&amp; Observations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175922"/>
            <a:ext cx="6951277" cy="132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1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48556" y="4184709"/>
            <a:ext cx="13723494" cy="367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0319" lvl="1" indent="-250160" algn="l">
              <a:lnSpc>
                <a:spcPts val="3244"/>
              </a:lnSpc>
              <a:buAutoNum type="arabicPeriod"/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Project Goal: We built a tool to compute PCA, implement Inverse PCT and evaluate MSE, meeting all project requirements.</a:t>
            </a:r>
          </a:p>
          <a:p>
            <a:pPr marL="500319" lvl="1" indent="-250160" algn="l">
              <a:lnSpc>
                <a:spcPts val="3244"/>
              </a:lnSpc>
              <a:buAutoNum type="arabicPeriod"/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Key Observations:</a:t>
            </a:r>
          </a:p>
          <a:p>
            <a:pPr marL="1000638" lvl="2" indent="-333546" algn="l">
              <a:lnSpc>
                <a:spcPts val="3244"/>
              </a:lnSpc>
              <a:buFont typeface="Arial"/>
              <a:buChar char="⚬"/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PCA successfully decorrelates data and concentrates information into the first few components.</a:t>
            </a:r>
          </a:p>
          <a:p>
            <a:pPr marL="1000638" lvl="2" indent="-333546" algn="l">
              <a:lnSpc>
                <a:spcPts val="3244"/>
              </a:lnSpc>
              <a:buFont typeface="Arial"/>
              <a:buChar char="⚬"/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PC1 captures the most variance (brightness).</a:t>
            </a:r>
          </a:p>
          <a:p>
            <a:pPr marL="1000638" lvl="2" indent="-333546" algn="l">
              <a:lnSpc>
                <a:spcPts val="3244"/>
              </a:lnSpc>
              <a:buFont typeface="Arial"/>
              <a:buChar char="⚬"/>
            </a:pPr>
            <a:r>
              <a:rPr lang="en-US" sz="2317" dirty="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The last PCs (e.g., 9, 10, 11) contain almost exclusively noise.</a:t>
            </a:r>
          </a:p>
          <a:p>
            <a:pPr algn="l">
              <a:lnSpc>
                <a:spcPts val="3244"/>
              </a:lnSpc>
            </a:pPr>
            <a:endParaRPr lang="en-US" sz="2317" dirty="0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244"/>
              </a:lnSpc>
              <a:spcBef>
                <a:spcPct val="0"/>
              </a:spcBef>
            </a:pPr>
            <a:endParaRPr lang="en-US" sz="2317" dirty="0">
              <a:solidFill>
                <a:srgbClr val="F6E0F5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7" name="Freeform 7"/>
          <p:cNvSpPr/>
          <p:nvPr/>
        </p:nvSpPr>
        <p:spPr>
          <a:xfrm flipH="1">
            <a:off x="329184" y="7138064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4240472" y="0"/>
                </a:moveTo>
                <a:lnTo>
                  <a:pt x="0" y="0"/>
                </a:lnTo>
                <a:lnTo>
                  <a:pt x="0" y="4240472"/>
                </a:lnTo>
                <a:lnTo>
                  <a:pt x="4240472" y="4240472"/>
                </a:lnTo>
                <a:lnTo>
                  <a:pt x="424047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r="-2479" b="-1848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015874" y="830098"/>
            <a:ext cx="1628775" cy="1628775"/>
          </a:xfrm>
          <a:custGeom>
            <a:avLst/>
            <a:gdLst/>
            <a:ahLst/>
            <a:cxnLst/>
            <a:rect l="l" t="t" r="r" b="b"/>
            <a:pathLst>
              <a:path w="1628775" h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891511" y="-891511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0" y="0"/>
                </a:moveTo>
                <a:lnTo>
                  <a:pt x="4240472" y="0"/>
                </a:lnTo>
                <a:lnTo>
                  <a:pt x="4240472" y="4240472"/>
                </a:lnTo>
                <a:lnTo>
                  <a:pt x="0" y="4240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740976" y="2075763"/>
            <a:ext cx="8918234" cy="166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44"/>
              </a:lnSpc>
              <a:spcBef>
                <a:spcPct val="0"/>
              </a:spcBef>
            </a:pPr>
            <a:r>
              <a:rPr lang="en-US" sz="9674" b="1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THANK YOU!</a:t>
            </a:r>
          </a:p>
        </p:txBody>
      </p:sp>
      <p:sp>
        <p:nvSpPr>
          <p:cNvPr id="6" name="Freeform 6"/>
          <p:cNvSpPr/>
          <p:nvPr/>
        </p:nvSpPr>
        <p:spPr>
          <a:xfrm>
            <a:off x="15691514" y="6933276"/>
            <a:ext cx="4240473" cy="4240473"/>
          </a:xfrm>
          <a:custGeom>
            <a:avLst/>
            <a:gdLst/>
            <a:ahLst/>
            <a:cxnLst/>
            <a:rect l="l" t="t" r="r" b="b"/>
            <a:pathLst>
              <a:path w="4240473" h="4240473">
                <a:moveTo>
                  <a:pt x="0" y="0"/>
                </a:moveTo>
                <a:lnTo>
                  <a:pt x="4240472" y="0"/>
                </a:lnTo>
                <a:lnTo>
                  <a:pt x="4240472" y="4240473"/>
                </a:lnTo>
                <a:lnTo>
                  <a:pt x="0" y="4240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2847645" y="4067037"/>
            <a:ext cx="12592710" cy="91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7"/>
              </a:lnSpc>
            </a:pPr>
            <a:r>
              <a:rPr lang="en-US" sz="2662" spc="213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ANY</a:t>
            </a:r>
          </a:p>
          <a:p>
            <a:pPr algn="ctr">
              <a:lnSpc>
                <a:spcPts val="3727"/>
              </a:lnSpc>
              <a:spcBef>
                <a:spcPct val="0"/>
              </a:spcBef>
            </a:pPr>
            <a:r>
              <a:rPr lang="en-US" sz="2662" spc="213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QUESTIONS?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906</Words>
  <Application>Microsoft Office PowerPoint</Application>
  <PresentationFormat>Custom</PresentationFormat>
  <Paragraphs>149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Garet</vt:lpstr>
      <vt:lpstr>Garet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 </dc:title>
  <cp:lastModifiedBy>Yaksh Bhesaniya</cp:lastModifiedBy>
  <cp:revision>8</cp:revision>
  <dcterms:created xsi:type="dcterms:W3CDTF">2006-08-16T00:00:00Z</dcterms:created>
  <dcterms:modified xsi:type="dcterms:W3CDTF">2025-11-22T15:00:40Z</dcterms:modified>
  <dc:identifier>DAG4sZ36KdM</dc:identifier>
</cp:coreProperties>
</file>